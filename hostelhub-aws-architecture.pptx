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88952" cy="18288"/>
          </a:xfrm>
          <a:prstGeom prst="rect">
            <a:avLst/>
          </a:prstGeom>
          <a:solidFill>
            <a:srgbClr val="1C8C7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2860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HostelHub — AWS ECS Production Architecture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Management System — MERN stack on ECS Fargate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4348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 ·  Express  ·  MongoDB Atlas  ·  ECR  ·  ALB  ·  GitHub Actions  ·  CloudWatch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5E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743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1089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&amp; Repository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Roles, requests, and data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937760" y="118872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8AA4BC"/>
          </a:solidFill>
          <a:ln w="12700">
            <a:solidFill>
              <a:srgbClr val="8AA4B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937760" y="127101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937760" y="155448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· Warden · Worker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434840" y="2148840"/>
            <a:ext cx="3383280" cy="640080"/>
          </a:xfrm>
          <a:prstGeom prst="roundRect">
            <a:avLst>
              <a:gd name="adj" fmla="val 11429"/>
            </a:avLst>
          </a:prstGeom>
          <a:solidFill>
            <a:srgbClr val="1C8C7C"/>
          </a:solidFill>
          <a:ln w="12700">
            <a:solidFill>
              <a:srgbClr val="1C8C7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34840" y="223113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ALB :80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251460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React SPA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34840" y="3154680"/>
            <a:ext cx="3383280" cy="640080"/>
          </a:xfrm>
          <a:prstGeom prst="roundRect">
            <a:avLst>
              <a:gd name="adj" fmla="val 11429"/>
            </a:avLst>
          </a:prstGeom>
          <a:solidFill>
            <a:srgbClr val="1B5E8C"/>
          </a:solidFill>
          <a:ln w="12700">
            <a:solidFill>
              <a:srgbClr val="1B5E8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34840" y="323697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 (nginx)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434840" y="352044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dashboards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34840" y="4160520"/>
            <a:ext cx="3383280" cy="640080"/>
          </a:xfrm>
          <a:prstGeom prst="roundRect">
            <a:avLst>
              <a:gd name="adj" fmla="val 11429"/>
            </a:avLst>
          </a:prstGeom>
          <a:solidFill>
            <a:srgbClr val="1C8C7C"/>
          </a:solidFill>
          <a:ln w="12700">
            <a:solidFill>
              <a:srgbClr val="1C8C7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34840" y="424281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ALB :5000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434840" y="452628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API traffic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34840" y="5166360"/>
            <a:ext cx="3383280" cy="640080"/>
          </a:xfrm>
          <a:prstGeom prst="roundRect">
            <a:avLst>
              <a:gd name="adj" fmla="val 11429"/>
            </a:avLst>
          </a:prstGeom>
          <a:solidFill>
            <a:srgbClr val="1B5E8C"/>
          </a:solidFill>
          <a:ln w="12700">
            <a:solidFill>
              <a:srgbClr val="1B5E8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34840" y="524865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backend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434840" y="553212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/auth /students /warden /workers /complaints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5166360"/>
            <a:ext cx="3383280" cy="640080"/>
          </a:xfrm>
          <a:prstGeom prst="roundRect">
            <a:avLst>
              <a:gd name="adj" fmla="val 11429"/>
            </a:avLst>
          </a:prstGeom>
          <a:solidFill>
            <a:srgbClr val="C9822E"/>
          </a:solidFill>
          <a:ln w="12700">
            <a:solidFill>
              <a:srgbClr val="C9822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24865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SSM Parameter Store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53212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mongo-uri · jwt-secret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321040" y="5166360"/>
            <a:ext cx="3291840" cy="640080"/>
          </a:xfrm>
          <a:prstGeom prst="roundRect">
            <a:avLst>
              <a:gd name="adj" fmla="val 11429"/>
            </a:avLst>
          </a:prstGeom>
          <a:solidFill>
            <a:srgbClr val="5C4FA8"/>
          </a:solidFill>
          <a:ln w="12700">
            <a:solidFill>
              <a:srgbClr val="5C4FA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321040" y="524865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321040" y="553212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hostelhub database (M0)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1691640"/>
            <a:ext cx="0" cy="457200"/>
          </a:xfrm>
          <a:prstGeom prst="line">
            <a:avLst/>
          </a:prstGeom>
          <a:noFill/>
          <a:ln w="19050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126480" y="2788920"/>
            <a:ext cx="0" cy="365760"/>
          </a:xfrm>
          <a:prstGeom prst="line">
            <a:avLst/>
          </a:prstGeom>
          <a:noFill/>
          <a:ln w="19050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126480" y="3794760"/>
            <a:ext cx="0" cy="365760"/>
          </a:xfrm>
          <a:prstGeom prst="line">
            <a:avLst/>
          </a:prstGeom>
          <a:noFill/>
          <a:ln w="19050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126480" y="4800600"/>
            <a:ext cx="0" cy="365760"/>
          </a:xfrm>
          <a:prstGeom prst="line">
            <a:avLst/>
          </a:prstGeom>
          <a:noFill/>
          <a:ln w="19050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931920" y="5486400"/>
            <a:ext cx="-502920" cy="0"/>
          </a:xfrm>
          <a:prstGeom prst="line">
            <a:avLst/>
          </a:prstGeom>
          <a:noFill/>
          <a:ln w="19050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818120" y="5486400"/>
            <a:ext cx="502920" cy="0"/>
          </a:xfrm>
          <a:prstGeom prst="line">
            <a:avLst/>
          </a:prstGeom>
          <a:noFill/>
          <a:ln w="19050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images travel as base64 strings inside the JSON body — stored directly in MongoDB, no S3 or local disk involved.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structure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4846320"/>
          </a:xfrm>
          <a:prstGeom prst="roundRect">
            <a:avLst>
              <a:gd name="adj" fmla="val 1509"/>
            </a:avLst>
          </a:prstGeom>
          <a:solidFill>
            <a:srgbClr val="EEF3F8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55448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JetBrains Mono, Consolas, monospace" pitchFamily="34" charset="0"/>
                <a:ea typeface="JetBrains Mono, Consolas, monospace" pitchFamily="34" charset="-122"/>
                <a:cs typeface="JetBrains Mono, Consolas, monospace" pitchFamily="34" charset="-120"/>
              </a:rPr>
              <a:t>HostelHub/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860804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02B"/>
                </a:solidFill>
                <a:latin typeface="JetBrains Mono, Consolas, monospace" pitchFamily="34" charset="0"/>
                <a:ea typeface="JetBrains Mono, Consolas, monospace" pitchFamily="34" charset="-122"/>
                <a:cs typeface="JetBrains Mono, Consolas, monospace" pitchFamily="34" charset="-120"/>
              </a:rPr>
              <a:t>├── .github/workflows/   backend.yml · frontend.yml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16712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02B"/>
                </a:solidFill>
                <a:latin typeface="JetBrains Mono, Consolas, monospace" pitchFamily="34" charset="0"/>
                <a:ea typeface="JetBrains Mono, Consolas, monospace" pitchFamily="34" charset="-122"/>
                <a:cs typeface="JetBrains Mono, Consolas, monospace" pitchFamily="34" charset="-120"/>
              </a:rPr>
              <a:t>├── backend/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47345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02B"/>
                </a:solidFill>
                <a:latin typeface="JetBrains Mono, Consolas, monospace" pitchFamily="34" charset="0"/>
                <a:ea typeface="JetBrains Mono, Consolas, monospace" pitchFamily="34" charset="-122"/>
                <a:cs typeface="JetBrains Mono, Consolas, monospace" pitchFamily="34" charset="-120"/>
              </a:rPr>
              <a:t>│   ├── models/          Student · Warden · Worker · Complaint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779776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02B"/>
                </a:solidFill>
                <a:latin typeface="JetBrains Mono, Consolas, monospace" pitchFamily="34" charset="0"/>
                <a:ea typeface="JetBrains Mono, Consolas, monospace" pitchFamily="34" charset="-122"/>
                <a:cs typeface="JetBrains Mono, Consolas, monospace" pitchFamily="34" charset="-120"/>
              </a:rPr>
              <a:t>│   ├── routes/          auth · students · wardens · workers · complaints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08610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02B"/>
                </a:solidFill>
                <a:latin typeface="JetBrains Mono, Consolas, monospace" pitchFamily="34" charset="0"/>
                <a:ea typeface="JetBrains Mono, Consolas, monospace" pitchFamily="34" charset="-122"/>
                <a:cs typeface="JetBrains Mono, Consolas, monospace" pitchFamily="34" charset="-120"/>
              </a:rPr>
              <a:t>│   ├── server.js        SSM-based (aws-ecs-deploy branch)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392424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02B"/>
                </a:solidFill>
                <a:latin typeface="JetBrains Mono, Consolas, monospace" pitchFamily="34" charset="0"/>
                <a:ea typeface="JetBrains Mono, Consolas, monospace" pitchFamily="34" charset="-122"/>
                <a:cs typeface="JetBrains Mono, Consolas, monospace" pitchFamily="34" charset="-120"/>
              </a:rPr>
              <a:t>│   ├── server.local.js  env-var based (master branch)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69874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02B"/>
                </a:solidFill>
                <a:latin typeface="JetBrains Mono, Consolas, monospace" pitchFamily="34" charset="0"/>
                <a:ea typeface="JetBrains Mono, Consolas, monospace" pitchFamily="34" charset="-122"/>
                <a:cs typeface="JetBrains Mono, Consolas, monospace" pitchFamily="34" charset="-120"/>
              </a:rPr>
              <a:t>│   └── Dockerfile       multi-stage, non-root user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0050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02B"/>
                </a:solidFill>
                <a:latin typeface="JetBrains Mono, Consolas, monospace" pitchFamily="34" charset="0"/>
                <a:ea typeface="JetBrains Mono, Consolas, monospace" pitchFamily="34" charset="-122"/>
                <a:cs typeface="JetBrains Mono, Consolas, monospace" pitchFamily="34" charset="-120"/>
              </a:rPr>
              <a:t>├── frontend/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311396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02B"/>
                </a:solidFill>
                <a:latin typeface="JetBrains Mono, Consolas, monospace" pitchFamily="34" charset="0"/>
                <a:ea typeface="JetBrains Mono, Consolas, monospace" pitchFamily="34" charset="-122"/>
                <a:cs typeface="JetBrains Mono, Consolas, monospace" pitchFamily="34" charset="-120"/>
              </a:rPr>
              <a:t>│   ├── src/api.js       reads REACT_APP_API_BASE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6177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02B"/>
                </a:solidFill>
                <a:latin typeface="JetBrains Mono, Consolas, monospace" pitchFamily="34" charset="0"/>
                <a:ea typeface="JetBrains Mono, Consolas, monospace" pitchFamily="34" charset="-122"/>
                <a:cs typeface="JetBrains Mono, Consolas, monospace" pitchFamily="34" charset="-120"/>
              </a:rPr>
              <a:t>│   ├── Dockerfile       production build → nginx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4924044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02B"/>
                </a:solidFill>
                <a:latin typeface="JetBrains Mono, Consolas, monospace" pitchFamily="34" charset="0"/>
                <a:ea typeface="JetBrains Mono, Consolas, monospace" pitchFamily="34" charset="-122"/>
                <a:cs typeface="JetBrains Mono, Consolas, monospace" pitchFamily="34" charset="-120"/>
              </a:rPr>
              <a:t>│   ├── Dockerfile.dev   local hot-reload dev server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52303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02B"/>
                </a:solidFill>
                <a:latin typeface="JetBrains Mono, Consolas, monospace" pitchFamily="34" charset="0"/>
                <a:ea typeface="JetBrains Mono, Consolas, monospace" pitchFamily="34" charset="-122"/>
                <a:cs typeface="JetBrains Mono, Consolas, monospace" pitchFamily="34" charset="-120"/>
              </a:rPr>
              <a:t>│   └── nginx.conf       SPA fallback routing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553669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02B"/>
                </a:solidFill>
                <a:latin typeface="JetBrains Mono, Consolas, monospace" pitchFamily="34" charset="0"/>
                <a:ea typeface="JetBrains Mono, Consolas, monospace" pitchFamily="34" charset="-122"/>
                <a:cs typeface="JetBrains Mono, Consolas, monospace" pitchFamily="34" charset="-120"/>
              </a:rPr>
              <a:t>├── k8s.yaml             Minikube manifests (kept for local k8s)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5843016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02B"/>
                </a:solidFill>
                <a:latin typeface="JetBrains Mono, Consolas, monospace" pitchFamily="34" charset="0"/>
                <a:ea typeface="JetBrains Mono, Consolas, monospace" pitchFamily="34" charset="-122"/>
                <a:cs typeface="JetBrains Mono, Consolas, monospace" pitchFamily="34" charset="-120"/>
              </a:rPr>
              <a:t>└── docker-compose.yaml  local dev stack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355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branches: master (local, stable) and aws-ecs-deploy (AWS-specific files above)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5E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743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1089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Infrastructure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ECS Fargate — full picture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120640" y="228600"/>
            <a:ext cx="1645920" cy="457200"/>
          </a:xfrm>
          <a:prstGeom prst="roundRect">
            <a:avLst>
              <a:gd name="adj" fmla="val 16000"/>
            </a:avLst>
          </a:prstGeom>
          <a:solidFill>
            <a:srgbClr val="8AA4BC"/>
          </a:solidFill>
          <a:ln w="12700">
            <a:solidFill>
              <a:srgbClr val="8AA4B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20640" y="228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0" y="685800"/>
            <a:ext cx="0" cy="320040"/>
          </a:xfrm>
          <a:prstGeom prst="line">
            <a:avLst/>
          </a:prstGeom>
          <a:noFill/>
          <a:ln w="19050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48640" y="10058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F7FAFC"/>
          </a:solidFill>
          <a:ln w="19050">
            <a:solidFill>
              <a:srgbClr val="D8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1155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— public + private subnets, IGW, NAT Gateway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1536192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1C8C7C"/>
          </a:solidFill>
          <a:ln w="12700">
            <a:solidFill>
              <a:srgbClr val="1C8C7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1848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ALB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19019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40480" y="1536192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1C8C7C"/>
          </a:solidFill>
          <a:ln w="12700">
            <a:solidFill>
              <a:srgbClr val="1C8C7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840480" y="161848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ALB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19019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:5000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49440" y="1536192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C9822E"/>
          </a:solidFill>
          <a:ln w="12700">
            <a:solidFill>
              <a:srgbClr val="C982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49440" y="16184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19019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frontend images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601200" y="1536192"/>
            <a:ext cx="1828800" cy="2450592"/>
          </a:xfrm>
          <a:prstGeom prst="roundRect">
            <a:avLst>
              <a:gd name="adj" fmla="val 4000"/>
            </a:avLst>
          </a:prstGeom>
          <a:solidFill>
            <a:srgbClr val="6B7C8C"/>
          </a:solidFill>
          <a:ln w="12700">
            <a:solidFill>
              <a:srgbClr val="6B7C8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601200" y="16184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0" y="19019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external, M0 cluster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2176272"/>
            <a:ext cx="0" cy="365760"/>
          </a:xfrm>
          <a:prstGeom prst="line">
            <a:avLst/>
          </a:prstGeom>
          <a:noFill/>
          <a:ln w="19050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166360" y="2176272"/>
            <a:ext cx="0" cy="365760"/>
          </a:xfrm>
          <a:prstGeom prst="line">
            <a:avLst/>
          </a:prstGeom>
          <a:noFill/>
          <a:ln w="19050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14400" y="2542032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1B5E8C"/>
          </a:solidFill>
          <a:ln w="12700">
            <a:solidFill>
              <a:srgbClr val="1B5E8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262432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service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14400" y="290779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task · nginx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840480" y="2542032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1B5E8C"/>
          </a:solidFill>
          <a:ln w="12700">
            <a:solidFill>
              <a:srgbClr val="1B5E8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840480" y="262432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service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3840480" y="290779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task · node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949440" y="2359152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C9822E"/>
          </a:solidFill>
          <a:ln w="12700">
            <a:solidFill>
              <a:srgbClr val="C9822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949440" y="24414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SSM Parameter Store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949440" y="272491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/hostelhub/*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166360" y="3182112"/>
            <a:ext cx="0" cy="365760"/>
          </a:xfrm>
          <a:prstGeom prst="line">
            <a:avLst/>
          </a:prstGeom>
          <a:noFill/>
          <a:ln w="19050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3840480" y="3547872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5C4FA8"/>
          </a:solidFill>
          <a:ln w="12700">
            <a:solidFill>
              <a:srgbClr val="5C4FA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840480" y="363016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role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3840480" y="391363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ssm:GetParameters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949440" y="3182112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6B7C8C"/>
          </a:solidFill>
          <a:ln w="12700">
            <a:solidFill>
              <a:srgbClr val="6B7C8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949440" y="32644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949440" y="354787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&amp; metrics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92240" y="1847088"/>
            <a:ext cx="457200" cy="0"/>
          </a:xfrm>
          <a:prstGeom prst="line">
            <a:avLst/>
          </a:prstGeom>
          <a:noFill/>
          <a:ln w="19050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6492240" y="2651760"/>
            <a:ext cx="457200" cy="-210312"/>
          </a:xfrm>
          <a:prstGeom prst="line">
            <a:avLst/>
          </a:prstGeom>
          <a:noFill/>
          <a:ln w="19050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6492240" y="2862072"/>
            <a:ext cx="457200" cy="612648"/>
          </a:xfrm>
          <a:prstGeom prst="line">
            <a:avLst/>
          </a:prstGeom>
          <a:noFill/>
          <a:ln w="19050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9326880" y="2651760"/>
            <a:ext cx="274320" cy="0"/>
          </a:xfrm>
          <a:prstGeom prst="line">
            <a:avLst/>
          </a:prstGeom>
          <a:noFill/>
          <a:ln w="19050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43" name="Text 41"/>
          <p:cNvSpPr txBox="1"/>
          <p:nvPr/>
        </p:nvSpPr>
        <p:spPr>
          <a:xfrm>
            <a:off x="822960" y="42519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→ build, push to ECR, render new task definition, deploy, wait for stability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4846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ALBs are public. Task role and execution role are separate — the app's own SSM calls use the Task role.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ECS task definitions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349240" cy="4480560"/>
          </a:xfrm>
          <a:prstGeom prst="roundRect">
            <a:avLst>
              <a:gd name="adj" fmla="val 1837"/>
            </a:avLst>
          </a:prstGeom>
          <a:solidFill>
            <a:srgbClr val="EEF3F8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25880"/>
            <a:ext cx="5349240" cy="594360"/>
          </a:xfrm>
          <a:prstGeom prst="roundRect">
            <a:avLst>
              <a:gd name="adj" fmla="val 13846"/>
            </a:avLst>
          </a:prstGeom>
          <a:solidFill>
            <a:srgbClr val="1C8C7C"/>
          </a:solidFill>
          <a:ln w="12700">
            <a:solidFill>
              <a:srgbClr val="1C8C7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325880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task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031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port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834640" y="21031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76148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/ Memory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834640" y="276148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.25 vCPU / .5 GB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41985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834640" y="341985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hostelhub/frontend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07822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vars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834640" y="407822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NODE_ENV=production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73659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needed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834640" y="473659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role only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72200" y="1325880"/>
            <a:ext cx="5349240" cy="4480560"/>
          </a:xfrm>
          <a:prstGeom prst="roundRect">
            <a:avLst>
              <a:gd name="adj" fmla="val 1837"/>
            </a:avLst>
          </a:prstGeom>
          <a:solidFill>
            <a:srgbClr val="EEF3F8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1325880"/>
            <a:ext cx="5349240" cy="594360"/>
          </a:xfrm>
          <a:prstGeom prst="roundRect">
            <a:avLst>
              <a:gd name="adj" fmla="val 13846"/>
            </a:avLst>
          </a:prstGeom>
          <a:solidFill>
            <a:srgbClr val="1B5E8C"/>
          </a:solidFill>
          <a:ln w="12700">
            <a:solidFill>
              <a:srgbClr val="1B5E8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72200" y="1325880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task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21031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port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458200" y="21031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5000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276148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/ Memory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458200" y="276148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.5 vCPU / 1 GB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446520" y="341985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458200" y="341985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hostelhub/backend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446520" y="407822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vars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458200" y="407822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AWS_REGION=eu-west-2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446520" y="473659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needed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458200" y="473659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+ Task role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Roles, secrets, and network boundaries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5760" cy="365760"/>
          </a:xfrm>
          <a:prstGeom prst="ellipse">
            <a:avLst/>
          </a:prstGeom>
          <a:solidFill>
            <a:srgbClr val="1B5E8C"/>
          </a:solidFill>
          <a:ln w="12700">
            <a:solidFill>
              <a:srgbClr val="1B5E8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3716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IAM roles, not one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137160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role pulls images and writes logs; Task role is what server.js actually uses to call ssm:GetParameters. Mixing them up was the exact bug that caused the first crash loop.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350008"/>
            <a:ext cx="365760" cy="365760"/>
          </a:xfrm>
          <a:prstGeom prst="ellipse">
            <a:avLst/>
          </a:prstGeom>
          <a:solidFill>
            <a:srgbClr val="1C8C7C"/>
          </a:solidFill>
          <a:ln w="12700">
            <a:solidFill>
              <a:srgbClr val="1C8C7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350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30428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never in code or images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297680" y="2304288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/hostelhub/mongo-uri and /hostelhub/jwt-secret live in SSM as SecureString, read at boot — never baked into the Docker image or committed to the repo.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282696"/>
            <a:ext cx="365760" cy="365760"/>
          </a:xfrm>
          <a:prstGeom prst="ellipse">
            <a:avLst/>
          </a:prstGeom>
          <a:solidFill>
            <a:srgbClr val="1B5E8C"/>
          </a:solidFill>
          <a:ln w="12700">
            <a:solidFill>
              <a:srgbClr val="1B5E8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282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236976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.dockerignore excludes .env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297680" y="3236976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the local dev Mongo URI and JWT secret from accidentally being copied into the image during COPY . 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215384"/>
            <a:ext cx="365760" cy="365760"/>
          </a:xfrm>
          <a:prstGeom prst="ellipse">
            <a:avLst/>
          </a:prstGeom>
          <a:solidFill>
            <a:srgbClr val="1C8C7C"/>
          </a:solidFill>
          <a:ln w="12700">
            <a:solidFill>
              <a:srgbClr val="1C8C7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215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4169664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Task role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4297680" y="4169664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 ssm:GetParameters / GetParameter on arn:...:parameter/hostelhub/* only — not AmazonSSMFullAccess in the long run.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148072"/>
            <a:ext cx="365760" cy="365760"/>
          </a:xfrm>
          <a:prstGeom prst="ellipse">
            <a:avLst/>
          </a:prstGeom>
          <a:solidFill>
            <a:srgbClr val="1B5E8C"/>
          </a:solidFill>
          <a:ln w="12700">
            <a:solidFill>
              <a:srgbClr val="1B5E8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5148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510235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Non-root container user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297680" y="5102352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Dockerfile creates and runs as a dedicated nodejs user, not root.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5E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743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1089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&amp; Operations</a:t>
            </a:r>
            <a:endParaRPr lang="en-US" sz="3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 pipeline (GitHub Actions)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54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8C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202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&amp; auth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3317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checkout, configure-aws-credentials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54680" y="2148840"/>
            <a:ext cx="228600" cy="0"/>
          </a:xfrm>
          <a:prstGeom prst="line">
            <a:avLst/>
          </a:prstGeom>
          <a:noFill/>
          <a:ln w="19050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383280" y="1463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20440" y="1554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8C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19202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push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3317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docker/build-push-action → ECR, tag = run number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89320" y="2148840"/>
            <a:ext cx="228600" cy="0"/>
          </a:xfrm>
          <a:prstGeom prst="line">
            <a:avLst/>
          </a:prstGeom>
          <a:noFill/>
          <a:ln w="19050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217920" y="1463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55080" y="1554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8C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19202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task def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23317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amazon-ecs-render-task-definition, new image URI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823960" y="2148840"/>
            <a:ext cx="228600" cy="0"/>
          </a:xfrm>
          <a:prstGeom prst="line">
            <a:avLst/>
          </a:prstGeom>
          <a:noFill/>
          <a:ln w="19050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052560" y="1463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1B5E8C"/>
          </a:solidFill>
          <a:ln w="12700">
            <a:solidFill>
              <a:srgbClr val="1B5E8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89720" y="1554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189720" y="19202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wait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9189720" y="23317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amazon-ecs-deploy-task-definition, wait-for-stability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render + deploy steps matter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365760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Pushing a new image to ECR alone doesn't change what's running. force-new-deployment only restarts the same tagged image. The render + deploy steps register a genuinely new task definition revision pointing at the new image tag, then update the service to it — this closed the exact gap identified during rollout, where ECR had a new frontend image but ECS kept running the old one.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workflow_dispatch (manual) · Secrets scoped to the “development” GitHub environment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checks and monitoring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EEF3F8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600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endpoints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1488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8C"/>
                </a:solidFill>
                <a:latin typeface="JetBrains Mono, Consolas, monospace" pitchFamily="34" charset="0"/>
                <a:ea typeface="JetBrains Mono, Consolas, monospace" pitchFamily="34" charset="-122"/>
                <a:cs typeface="JetBrains Mono, Consolas, monospace" pitchFamily="34" charset="-120"/>
              </a:rPr>
              <a:t>GET /health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4688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200 once the process is up — this is what the ALB target group checks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0632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8C"/>
                </a:solidFill>
                <a:latin typeface="JetBrains Mono, Consolas, monospace" pitchFamily="34" charset="0"/>
                <a:ea typeface="JetBrains Mono, Consolas, monospace" pitchFamily="34" charset="-122"/>
                <a:cs typeface="JetBrains Mono, Consolas, monospace" pitchFamily="34" charset="-120"/>
              </a:rPr>
              <a:t>GET /health/db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3832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mongoose.connection.readyState directly, no extra query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9776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8C"/>
                </a:solidFill>
                <a:latin typeface="JetBrains Mono, Consolas, monospace" pitchFamily="34" charset="0"/>
                <a:ea typeface="JetBrains Mono, Consolas, monospace" pitchFamily="34" charset="-122"/>
                <a:cs typeface="JetBrains Mono, Consolas, monospace" pitchFamily="34" charset="-120"/>
              </a:rPr>
              <a:t>Target group config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2976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/health, port 5000, success code 200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09360" y="137160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75120" y="1600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675120" y="2148840"/>
            <a:ext cx="4572000" cy="502920"/>
          </a:xfrm>
          <a:prstGeom prst="roundRect">
            <a:avLst>
              <a:gd name="adj" fmla="val 10909"/>
            </a:avLst>
          </a:prstGeom>
          <a:solidFill>
            <a:srgbClr val="1B5E8C"/>
          </a:solidFill>
          <a:ln w="12700">
            <a:solidFill>
              <a:srgbClr val="1B5E8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0" y="21488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stdout/stderr — startup logs, MongoDB connection status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75120" y="2807208"/>
            <a:ext cx="4572000" cy="502920"/>
          </a:xfrm>
          <a:prstGeom prst="roundRect">
            <a:avLst>
              <a:gd name="adj" fmla="val 10909"/>
            </a:avLst>
          </a:prstGeom>
          <a:solidFill>
            <a:srgbClr val="1B5E8C"/>
          </a:solidFill>
          <a:ln w="12700">
            <a:solidFill>
              <a:srgbClr val="1B5E8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0" y="280720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CPU / memory metrics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75120" y="3465576"/>
            <a:ext cx="4572000" cy="502920"/>
          </a:xfrm>
          <a:prstGeom prst="roundRect">
            <a:avLst>
              <a:gd name="adj" fmla="val 10909"/>
            </a:avLst>
          </a:prstGeom>
          <a:solidFill>
            <a:srgbClr val="1B5E8C"/>
          </a:solidFill>
          <a:ln w="12700">
            <a:solidFill>
              <a:srgbClr val="1B5E8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0" y="346557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target group health history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675120" y="4123944"/>
            <a:ext cx="4572000" cy="502920"/>
          </a:xfrm>
          <a:prstGeom prst="roundRect">
            <a:avLst>
              <a:gd name="adj" fmla="val 10909"/>
            </a:avLst>
          </a:prstGeom>
          <a:solidFill>
            <a:srgbClr val="1B5E8C"/>
          </a:solidFill>
          <a:ln w="12700">
            <a:solidFill>
              <a:srgbClr val="1B5E8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0" y="412394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deployment circuit breaker — stops a bad rollout automatically after repeated health-check failures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TO END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complaint, from click to database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383280" cy="1051560"/>
          </a:xfrm>
          <a:prstGeom prst="roundRect">
            <a:avLst>
              <a:gd name="adj" fmla="val 6957"/>
            </a:avLst>
          </a:prstGeom>
          <a:solidFill>
            <a:srgbClr val="1B5E8C"/>
          </a:solidFill>
          <a:ln w="12700">
            <a:solidFill>
              <a:srgbClr val="1B5E8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727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3852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submits complaint form (image as base64)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931920" y="1988820"/>
            <a:ext cx="320040" cy="0"/>
          </a:xfrm>
          <a:prstGeom prst="line">
            <a:avLst/>
          </a:prstGeom>
          <a:noFill/>
          <a:ln w="19050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251960" y="1463040"/>
            <a:ext cx="3383280" cy="1051560"/>
          </a:xfrm>
          <a:prstGeom prst="roundRect">
            <a:avLst>
              <a:gd name="adj" fmla="val 6957"/>
            </a:avLst>
          </a:prstGeom>
          <a:solidFill>
            <a:srgbClr val="1C8C7C"/>
          </a:solidFill>
          <a:ln w="12700">
            <a:solidFill>
              <a:srgbClr val="1C8C7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34840" y="15727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434840" y="193852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POSTs JSON to backend ALB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635240" y="1988820"/>
            <a:ext cx="320040" cy="0"/>
          </a:xfrm>
          <a:prstGeom prst="line">
            <a:avLst/>
          </a:prstGeom>
          <a:noFill/>
          <a:ln w="19050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955280" y="1463040"/>
            <a:ext cx="3383280" cy="1051560"/>
          </a:xfrm>
          <a:prstGeom prst="roundRect">
            <a:avLst>
              <a:gd name="adj" fmla="val 6957"/>
            </a:avLst>
          </a:prstGeom>
          <a:solidFill>
            <a:srgbClr val="1B5E8C"/>
          </a:solidFill>
          <a:ln w="12700">
            <a:solidFill>
              <a:srgbClr val="1B5E8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38160" y="15727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193852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reads body (20mb limit)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063240"/>
            <a:ext cx="3383280" cy="1051560"/>
          </a:xfrm>
          <a:prstGeom prst="roundRect">
            <a:avLst>
              <a:gd name="adj" fmla="val 6957"/>
            </a:avLst>
          </a:prstGeom>
          <a:solidFill>
            <a:srgbClr val="1C8C7C"/>
          </a:solidFill>
          <a:ln w="12700">
            <a:solidFill>
              <a:srgbClr val="1C8C7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1729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53872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saves the Complaint document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931920" y="3589020"/>
            <a:ext cx="320040" cy="0"/>
          </a:xfrm>
          <a:prstGeom prst="line">
            <a:avLst/>
          </a:prstGeom>
          <a:noFill/>
          <a:ln w="19050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251960" y="3063240"/>
            <a:ext cx="3383280" cy="1051560"/>
          </a:xfrm>
          <a:prstGeom prst="roundRect">
            <a:avLst>
              <a:gd name="adj" fmla="val 6957"/>
            </a:avLst>
          </a:prstGeom>
          <a:solidFill>
            <a:srgbClr val="1B5E8C"/>
          </a:solidFill>
          <a:ln w="12700">
            <a:solidFill>
              <a:srgbClr val="1B5E8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434840" y="31729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434840" y="353872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Warden views /complaints/all, assigns worker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635240" y="3589020"/>
            <a:ext cx="320040" cy="0"/>
          </a:xfrm>
          <a:prstGeom prst="line">
            <a:avLst/>
          </a:prstGeom>
          <a:noFill/>
          <a:ln w="19050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955280" y="3063240"/>
            <a:ext cx="3383280" cy="1051560"/>
          </a:xfrm>
          <a:prstGeom prst="roundRect">
            <a:avLst>
              <a:gd name="adj" fmla="val 6957"/>
            </a:avLst>
          </a:prstGeom>
          <a:solidFill>
            <a:srgbClr val="1C8C7C"/>
          </a:solidFill>
          <a:ln w="12700">
            <a:solidFill>
              <a:srgbClr val="1C8C7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38160" y="31729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8138160" y="353872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updates status via PATCH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623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passes through the backend ALB and target group health check before reaching a running task.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743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complete, working path from code to production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5204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Express on ECS Fargate, MongoDB Atlas, automated build-to-deploy via GitHub Actions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2026-09-17T10:39:55Z</dcterms:created>
  <dcterms:modified xsi:type="dcterms:W3CDTF">2026-09-17T10:39:55Z</dcterms:modified>
</cp:coreProperties>
</file>